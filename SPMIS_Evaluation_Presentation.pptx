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>
            <a:off x="0" y="0"/>
            <a:ext cx="2743200" cy="2743200"/>
          </a:xfrm>
          <a:prstGeom prst="triangle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400">
                <a:solidFill>
                  <a:srgbClr val="FFFFFF"/>
                </a:solidFill>
                <a:latin typeface="Segoe UI"/>
              </a:defRPr>
            </a:pPr>
            <a:r>
              <a:t>Student Project Management</a:t>
            </a:r>
            <a:br/>
            <a:r>
              <a:t>Information System (SPMIS)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ECF0F1"/>
                </a:solidFill>
                <a:latin typeface="Segoe UI"/>
              </a:defRPr>
            </a:pPr>
            <a:r>
              <a:t>Project Evaluation Presentation</a:t>
            </a:r>
          </a:p>
          <a:p>
            <a:pPr algn="ctr">
              <a:defRPr sz="2400">
                <a:solidFill>
                  <a:srgbClr val="ECF0F1"/>
                </a:solidFill>
                <a:latin typeface="Segoe UI"/>
              </a:defRPr>
            </a:pPr>
            <a:r>
              <a:t>Prepared by: Muhammad Ali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400">
                <a:solidFill>
                  <a:srgbClr val="FFFFFF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ECF0F1"/>
                </a:solidFill>
                <a:latin typeface="Segoe UI"/>
              </a:defRPr>
            </a:pPr>
            <a:r>
              <a:t>• Scattered records and poor documentation</a:t>
            </a:r>
          </a:p>
          <a:p>
            <a:pPr>
              <a:defRPr sz="2400">
                <a:solidFill>
                  <a:srgbClr val="ECF0F1"/>
                </a:solidFill>
                <a:latin typeface="Segoe UI"/>
              </a:defRPr>
            </a:pPr>
            <a:r>
              <a:t>• Delayed feedback and miscommunication</a:t>
            </a:r>
          </a:p>
          <a:p>
            <a:pPr>
              <a:defRPr sz="2400">
                <a:solidFill>
                  <a:srgbClr val="ECF0F1"/>
                </a:solidFill>
                <a:latin typeface="Segoe UI"/>
              </a:defRPr>
            </a:pPr>
            <a:r>
              <a:t>• Inefficient tracking of tasks and milestones</a:t>
            </a:r>
          </a:p>
          <a:p>
            <a:pPr>
              <a:defRPr sz="2400">
                <a:solidFill>
                  <a:srgbClr val="ECF0F1"/>
                </a:solidFill>
                <a:latin typeface="Segoe UI"/>
              </a:defRPr>
            </a:pPr>
            <a:r>
              <a:t>• Supervisors struggle to monitor multiple projects effectively</a:t>
            </a:r>
          </a:p>
        </p:txBody>
      </p:sp>
      <p:sp>
        <p:nvSpPr>
          <p:cNvPr id="5" name="Donut 4"/>
          <p:cNvSpPr/>
          <p:nvPr/>
        </p:nvSpPr>
        <p:spPr>
          <a:xfrm>
            <a:off x="8229600" y="2743200"/>
            <a:ext cx="2743200" cy="2743200"/>
          </a:xfrm>
          <a:prstGeom prst="donu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AE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evron 1"/>
          <p:cNvSpPr/>
          <p:nvPr/>
        </p:nvSpPr>
        <p:spPr>
          <a:xfrm>
            <a:off x="914400" y="1371600"/>
            <a:ext cx="10058400" cy="4572000"/>
          </a:xfrm>
          <a:prstGeom prst="chevron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400">
                <a:solidFill>
                  <a:srgbClr val="FFFFFF"/>
                </a:solidFill>
                <a:latin typeface="Segoe UI"/>
              </a:defRPr>
            </a:pPr>
            <a:r>
              <a:t>Project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Segoe UI"/>
              </a:defRPr>
            </a:pPr>
            <a:r>
              <a:t>A centralized, web-based platform designed to:</a:t>
            </a:r>
          </a:p>
          <a:p>
            <a:pPr>
              <a:defRPr sz="2400">
                <a:solidFill>
                  <a:srgbClr val="FFFFFF"/>
                </a:solidFill>
                <a:latin typeface="Segoe UI"/>
              </a:defRPr>
            </a:pPr>
            <a:r>
              <a:t>✓ Simplify academic project management</a:t>
            </a:r>
          </a:p>
          <a:p>
            <a:pPr>
              <a:defRPr sz="2400">
                <a:solidFill>
                  <a:srgbClr val="FFFFFF"/>
                </a:solidFill>
                <a:latin typeface="Segoe UI"/>
              </a:defRPr>
            </a:pPr>
            <a:r>
              <a:t>✓ Enhance collaboration between students and supervisors</a:t>
            </a:r>
          </a:p>
          <a:p>
            <a:pPr>
              <a:defRPr sz="2400">
                <a:solidFill>
                  <a:srgbClr val="FFFFFF"/>
                </a:solidFill>
                <a:latin typeface="Segoe UI"/>
              </a:defRPr>
            </a:pPr>
            <a:r>
              <a:t>✓ Provide transparent workflows and real-time tracking</a:t>
            </a:r>
          </a:p>
          <a:p>
            <a:pPr>
              <a:defRPr sz="2400">
                <a:solidFill>
                  <a:srgbClr val="FFFFFF"/>
                </a:solidFill>
                <a:latin typeface="Segoe UI"/>
              </a:defRPr>
            </a:pPr>
            <a:r>
              <a:t>✓ Maintain organized documentation throughout the lifecycle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E44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9B59B6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400">
                <a:solidFill>
                  <a:srgbClr val="FFFFFF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2743200" cy="1097280"/>
          </a:xfrm>
          <a:prstGeom prst="round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Student &amp; Group Mgmt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286000"/>
            <a:ext cx="2743200" cy="1097280"/>
          </a:xfrm>
          <a:prstGeom prst="roundRect">
            <a:avLst/>
          </a:prstGeom>
          <a:solidFill>
            <a:srgbClr val="F1C40F"/>
          </a:solidFill>
          <a:ln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Proposal Submission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286000"/>
            <a:ext cx="2743200" cy="1097280"/>
          </a:xfrm>
          <a:prstGeom prst="round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Task &amp; Milestone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931920"/>
            <a:ext cx="2743200" cy="1097280"/>
          </a:xfrm>
          <a:prstGeom prst="round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Weekly Progress Reports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931920"/>
            <a:ext cx="2743200" cy="1097280"/>
          </a:xfrm>
          <a:prstGeom prst="roundRect">
            <a:avLst/>
          </a:prstGeom>
          <a:solidFill>
            <a:srgbClr val="9B59B6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Supervisor Feedback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931920"/>
            <a:ext cx="2743200" cy="109728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File &amp; Final Submission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400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2286000"/>
            <a:ext cx="5790895" cy="914400"/>
          </a:xfrm>
          <a:prstGeom prst="rect">
            <a:avLst/>
          </a:prstGeom>
          <a:solidFill>
            <a:srgbClr val="F1C40F"/>
          </a:solidFill>
          <a:ln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/>
            </a:pPr>
            <a:r>
              <a:t>Presentation Layer (Frontend)</a:t>
            </a:r>
            <a:br/>
            <a:r>
              <a:t>HTML, CSS, JS, Bootstrap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657600"/>
            <a:ext cx="5790895" cy="9144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/>
            </a:pPr>
            <a:r>
              <a:t>Application Layer (Backend)</a:t>
            </a:r>
            <a:br/>
            <a:r>
              <a:t>ASP.NET Core Web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5029200"/>
            <a:ext cx="5790895" cy="914400"/>
          </a:xfrm>
          <a:prstGeom prst="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/>
            </a:pPr>
            <a:r>
              <a:t>Data Layer (Database)</a:t>
            </a:r>
            <a:br/>
            <a:r>
              <a:t>Microsoft SQL Server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9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400">
                <a:solidFill>
                  <a:srgbClr val="FFFF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Segoe UI"/>
              </a:defRPr>
            </a:pPr>
            <a:r>
              <a:t>★ SPMIS offers a structured approach to project management.</a:t>
            </a:r>
          </a:p>
          <a:p>
            <a:pPr>
              <a:defRPr sz="2400">
                <a:solidFill>
                  <a:srgbClr val="FFFFFF"/>
                </a:solidFill>
                <a:latin typeface="Segoe UI"/>
              </a:defRPr>
            </a:pPr>
            <a:r>
              <a:t>★ Automates manual processes and reduces overhead.</a:t>
            </a:r>
          </a:p>
          <a:p>
            <a:pPr>
              <a:defRPr sz="2400">
                <a:solidFill>
                  <a:srgbClr val="FFFFFF"/>
                </a:solidFill>
                <a:latin typeface="Segoe UI"/>
              </a:defRPr>
            </a:pPr>
            <a:r>
              <a:t>★ Improves overall quality, productivity, and academic evaluation.</a:t>
            </a:r>
          </a:p>
          <a:p>
            <a:pPr>
              <a:defRPr sz="2400">
                <a:solidFill>
                  <a:srgbClr val="FFFFFF"/>
                </a:solidFill>
                <a:latin typeface="Segoe UI"/>
              </a:defRPr>
            </a:pPr>
          </a:p>
          <a:p>
            <a:pPr>
              <a:defRPr sz="2400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